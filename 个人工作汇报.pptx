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3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3C7C8"/>
                </a:solidFill>
                <a:latin typeface="Noto Sans CJK SC"/>
              </a:rPr>
              <a:t>PERSONAL WORK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52120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Noto Sans CJK SC"/>
              </a:rPr>
              <a:t>球形六足机器人</a:t>
            </a:r>
            <a:br/>
            <a:r>
              <a:rPr sz="2800" b="1">
                <a:solidFill>
                  <a:srgbClr val="FFFFFF"/>
                </a:solidFill>
                <a:latin typeface="Noto Sans CJK SC"/>
              </a:rPr>
              <a:t>视觉感知与相机机构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603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BD6E6"/>
                </a:solidFill>
                <a:latin typeface="Noto Sans CJK SC"/>
              </a:rPr>
              <a:t>个人阶段工作汇报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3072384"/>
            <a:ext cx="1161287" cy="0"/>
          </a:xfrm>
          <a:prstGeom prst="line">
            <a:avLst/>
          </a:prstGeom>
          <a:ln w="38100">
            <a:solidFill>
              <a:srgbClr val="23C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3310128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0CDDF"/>
                </a:solidFill>
                <a:latin typeface="Noto Sans CJK SC"/>
              </a:rPr>
              <a:t>从传感器选型、机构布置，到 RGB-D 目标定位</a:t>
            </a:r>
            <a:br/>
            <a:r>
              <a:rPr sz="1300" b="0">
                <a:solidFill>
                  <a:srgbClr val="C0CDDF"/>
                </a:solidFill>
                <a:latin typeface="Noto Sans CJK SC"/>
              </a:rPr>
              <a:t>与后续周边物体语义建图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70832"/>
            <a:ext cx="1298448" cy="329184"/>
          </a:xfrm>
          <a:prstGeom prst="roundRect">
            <a:avLst/>
          </a:prstGeom>
          <a:solidFill>
            <a:srgbClr val="17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375404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C7C8"/>
                </a:solidFill>
                <a:latin typeface="Noto Sans CJK SC"/>
              </a:rPr>
              <a:t>D435 RGB-D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9696" y="4370832"/>
            <a:ext cx="1591056" cy="329184"/>
          </a:xfrm>
          <a:prstGeom prst="roundRect">
            <a:avLst/>
          </a:prstGeom>
          <a:solidFill>
            <a:srgbClr val="17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4375404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C7C8"/>
                </a:solidFill>
                <a:latin typeface="Noto Sans CJK SC"/>
              </a:rPr>
              <a:t>YOLO + BoT-SORT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4370832"/>
            <a:ext cx="1426464" cy="329184"/>
          </a:xfrm>
          <a:prstGeom prst="roundRect">
            <a:avLst/>
          </a:prstGeom>
          <a:solidFill>
            <a:srgbClr val="17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4375404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C7C8"/>
                </a:solidFill>
                <a:latin typeface="Noto Sans CJK SC"/>
              </a:rPr>
              <a:t>四杆翻盖机构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658368"/>
            <a:ext cx="5449824" cy="5422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图2-1_D435安装与顶盖四杆翻盖机构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6236208" y="1345692"/>
            <a:ext cx="5120640" cy="33070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52944" y="5367528"/>
            <a:ext cx="2487168" cy="329184"/>
          </a:xfrm>
          <a:prstGeom prst="roundRect">
            <a:avLst/>
          </a:prstGeom>
          <a:solidFill>
            <a:srgbClr val="E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5372100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SC"/>
              </a:rPr>
              <a:t>顶盖外翻 · 相机内置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51052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6B2C6"/>
                </a:solidFill>
                <a:latin typeface="Noto Sans CJK SC"/>
              </a:rPr>
              <a:t>球形六足机器人 · 个人阶段工作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B2C6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A6"/>
                </a:solidFill>
                <a:latin typeface="Noto Sans CJK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10896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32B"/>
                </a:solidFill>
                <a:latin typeface="Noto Sans CJK SC"/>
              </a:rPr>
              <a:t>相机布置与顶盖四杆翻盖机构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046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97E"/>
                </a:solidFill>
                <a:latin typeface="Noto Sans CJK SC"/>
              </a:rPr>
              <a:t>相机固定在机器人内部，翻盖负责开放视野与滚动保护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52144"/>
            <a:ext cx="1100023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89888"/>
            <a:ext cx="7479792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图2-1_D435安装与顶盖四杆翻盖机构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9593" y="1499616"/>
            <a:ext cx="6909324" cy="22311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02752" y="1389888"/>
            <a:ext cx="3291840" cy="2487168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66420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</a:rPr>
              <a:t>设计逻辑</a:t>
            </a:r>
          </a:p>
        </p:txBody>
      </p:sp>
      <p:sp>
        <p:nvSpPr>
          <p:cNvPr id="10" name="Oval 9"/>
          <p:cNvSpPr/>
          <p:nvPr/>
        </p:nvSpPr>
        <p:spPr>
          <a:xfrm>
            <a:off x="8586216" y="2167127"/>
            <a:ext cx="109728" cy="109728"/>
          </a:xfrm>
          <a:prstGeom prst="ellipse">
            <a:avLst/>
          </a:prstGeom>
          <a:solidFill>
            <a:srgbClr val="23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87384" y="2103120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D435 固定：</a:t>
            </a:r>
            <a:r>
              <a:rPr sz="1150">
                <a:solidFill>
                  <a:srgbClr val="5B697E"/>
                </a:solidFill>
                <a:latin typeface="Noto Sans CJK SC"/>
              </a:rPr>
              <a:t>稳定光轴与外参</a:t>
            </a:r>
          </a:p>
        </p:txBody>
      </p:sp>
      <p:sp>
        <p:nvSpPr>
          <p:cNvPr id="12" name="Oval 11"/>
          <p:cNvSpPr/>
          <p:nvPr/>
        </p:nvSpPr>
        <p:spPr>
          <a:xfrm>
            <a:off x="8586216" y="2688336"/>
            <a:ext cx="109728" cy="109728"/>
          </a:xfrm>
          <a:prstGeom prst="ellipse">
            <a:avLst/>
          </a:prstGeom>
          <a:solidFill>
            <a:srgbClr val="23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2624328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翻盖外翻：</a:t>
            </a:r>
            <a:r>
              <a:rPr sz="1150">
                <a:solidFill>
                  <a:srgbClr val="5B697E"/>
                </a:solidFill>
                <a:latin typeface="Noto Sans CJK SC"/>
              </a:rPr>
              <a:t>避开相机与腿部</a:t>
            </a:r>
          </a:p>
        </p:txBody>
      </p:sp>
      <p:sp>
        <p:nvSpPr>
          <p:cNvPr id="14" name="Oval 13"/>
          <p:cNvSpPr/>
          <p:nvPr/>
        </p:nvSpPr>
        <p:spPr>
          <a:xfrm>
            <a:off x="8586216" y="3209544"/>
            <a:ext cx="109728" cy="109728"/>
          </a:xfrm>
          <a:prstGeom prst="ellipse">
            <a:avLst/>
          </a:prstGeom>
          <a:solidFill>
            <a:srgbClr val="F2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87384" y="3145536"/>
            <a:ext cx="24688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闭合保护：</a:t>
            </a:r>
            <a:r>
              <a:rPr sz="1150">
                <a:solidFill>
                  <a:srgbClr val="5B697E"/>
                </a:solidFill>
                <a:latin typeface="Noto Sans CJK SC"/>
              </a:rPr>
              <a:t>恢复球形外包络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160520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132B"/>
                </a:solidFill>
                <a:latin typeface="Noto Sans CJK SC"/>
              </a:rPr>
              <a:t>近期：从 CAD 推进到打印实物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08576"/>
            <a:ext cx="2514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" y="4764024"/>
            <a:ext cx="347472" cy="3474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7594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4718304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3E"/>
                </a:solidFill>
                <a:latin typeface="Noto Sans CJK SC"/>
              </a:rPr>
              <a:t>CAD 核对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" y="5047488"/>
            <a:ext cx="1764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97E"/>
                </a:solidFill>
                <a:latin typeface="Noto Sans CJK SC"/>
              </a:rPr>
              <a:t>轨迹、干涉</a:t>
            </a:r>
            <a:br/>
            <a:r>
              <a:rPr sz="950" b="0">
                <a:solidFill>
                  <a:srgbClr val="5B697E"/>
                </a:solidFill>
                <a:latin typeface="Noto Sans CJK SC"/>
              </a:rPr>
              <a:t>球形包络与公差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5148072"/>
            <a:ext cx="274319" cy="0"/>
          </a:xfrm>
          <a:prstGeom prst="line">
            <a:avLst/>
          </a:prstGeom>
          <a:ln w="19050">
            <a:solidFill>
              <a:srgbClr val="AA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83279" y="4608576"/>
            <a:ext cx="2514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29584" y="4764024"/>
            <a:ext cx="347472" cy="347472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47594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3" y="4718304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3E"/>
                </a:solidFill>
                <a:latin typeface="Noto Sans CJK SC"/>
              </a:rPr>
              <a:t>3D 打印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3" y="5047488"/>
            <a:ext cx="1764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97E"/>
                </a:solidFill>
                <a:latin typeface="Noto Sans CJK SC"/>
              </a:rPr>
              <a:t>顶盖、连杆</a:t>
            </a:r>
            <a:br/>
            <a:r>
              <a:rPr sz="950" b="0">
                <a:solidFill>
                  <a:srgbClr val="5B697E"/>
                </a:solidFill>
                <a:latin typeface="Noto Sans CJK SC"/>
              </a:rPr>
              <a:t>铰接件与支架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79" y="5148072"/>
            <a:ext cx="274321" cy="0"/>
          </a:xfrm>
          <a:prstGeom prst="line">
            <a:avLst/>
          </a:prstGeom>
          <a:ln w="19050">
            <a:solidFill>
              <a:srgbClr val="AA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72200" y="4608576"/>
            <a:ext cx="2514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18504" y="4764024"/>
            <a:ext cx="347472" cy="347472"/>
          </a:xfrm>
          <a:prstGeom prst="ellipse">
            <a:avLst/>
          </a:prstGeom>
          <a:solidFill>
            <a:srgbClr val="F2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47594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4718304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3E"/>
                </a:solidFill>
                <a:latin typeface="Noto Sans CJK SC"/>
              </a:rPr>
              <a:t>样机试装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5047488"/>
            <a:ext cx="1764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97E"/>
                </a:solidFill>
                <a:latin typeface="Noto Sans CJK SC"/>
              </a:rPr>
              <a:t>孔轴配合、卡滞</a:t>
            </a:r>
            <a:br/>
            <a:r>
              <a:rPr sz="950" b="0">
                <a:solidFill>
                  <a:srgbClr val="5B697E"/>
                </a:solidFill>
                <a:latin typeface="Noto Sans CJK SC"/>
              </a:rPr>
              <a:t>线缆与视野检查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86800" y="5148072"/>
            <a:ext cx="274320" cy="0"/>
          </a:xfrm>
          <a:prstGeom prst="line">
            <a:avLst/>
          </a:prstGeom>
          <a:ln w="19050">
            <a:solidFill>
              <a:srgbClr val="AA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61119" y="4608576"/>
            <a:ext cx="25146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4764024"/>
            <a:ext cx="347472" cy="347472"/>
          </a:xfrm>
          <a:prstGeom prst="ellipse">
            <a:avLst/>
          </a:prstGeom>
          <a:solidFill>
            <a:srgbClr val="80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47594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4718304"/>
            <a:ext cx="1764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3E"/>
                </a:solidFill>
                <a:latin typeface="Noto Sans CJK SC"/>
              </a:rPr>
              <a:t>实机验证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5047488"/>
            <a:ext cx="1764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97E"/>
                </a:solidFill>
                <a:latin typeface="Noto Sans CJK SC"/>
              </a:rPr>
              <a:t>开合、冲击</a:t>
            </a:r>
            <a:br/>
            <a:r>
              <a:rPr sz="950" b="0">
                <a:solidFill>
                  <a:srgbClr val="5B697E"/>
                </a:solidFill>
                <a:latin typeface="Noto Sans CJK SC"/>
              </a:rPr>
              <a:t>振动与外参稳定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651052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97E"/>
                </a:solidFill>
                <a:latin typeface="Noto Sans CJK SC"/>
              </a:rPr>
              <a:t>球形六足机器人 · 个人阶段工作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97E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A6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10896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32B"/>
                </a:solidFill>
                <a:latin typeface="Noto Sans CJK SC"/>
              </a:rPr>
              <a:t>RGB-D 目标定位与导航前端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046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97E"/>
                </a:solidFill>
                <a:latin typeface="Noto Sans CJK SC"/>
              </a:rPr>
              <a:t>将连续相机画面整理为稳定、可选择、可验证的三维目标状态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52144"/>
            <a:ext cx="1100023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80744"/>
            <a:ext cx="6839712" cy="3639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图3-1_D435目标定位与自然语言选择系统框图.png"/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749808" y="1565389"/>
            <a:ext cx="6528816" cy="32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1563624"/>
            <a:ext cx="1143000" cy="329184"/>
          </a:xfrm>
          <a:prstGeom prst="roundRect">
            <a:avLst/>
          </a:prstGeom>
          <a:solidFill>
            <a:srgbClr val="EA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68195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66CC"/>
                </a:solidFill>
                <a:latin typeface="Noto Sans CJK SC"/>
              </a:rPr>
              <a:t>系统主链路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62672" y="1380744"/>
            <a:ext cx="3931920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图3-4_实时界面与目标选择结果.png"/>
          <p:cNvPicPr>
            <a:picLocks noChangeAspect="1"/>
          </p:cNvPicPr>
          <p:nvPr/>
        </p:nvPicPr>
        <p:blipFill>
          <a:blip r:embed="rId3"/>
          <a:srcRect l="15940" r="15940" b="52000"/>
          <a:stretch>
            <a:fillRect/>
          </a:stretch>
        </p:blipFill>
        <p:spPr>
          <a:xfrm>
            <a:off x="7790688" y="1508760"/>
            <a:ext cx="3675887" cy="2286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36992" y="1627632"/>
            <a:ext cx="1024128" cy="329184"/>
          </a:xfrm>
          <a:prstGeom prst="roundRect">
            <a:avLst/>
          </a:prstGeom>
          <a:solidFill>
            <a:srgbClr val="E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632204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SC"/>
              </a:rPr>
              <a:t>实测界面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4133087"/>
            <a:ext cx="3931920" cy="886968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429768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C7C8"/>
                </a:solidFill>
                <a:latin typeface="Noto Sans CJK SC"/>
              </a:rPr>
              <a:t>稳定输出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4553712"/>
            <a:ext cx="3255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SC"/>
              </a:rPr>
              <a:t>ID · XYZ · 距离 · 方向 · 可见状态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276088"/>
            <a:ext cx="251460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5276088"/>
            <a:ext cx="64008" cy="85953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38581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RGB-D 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669279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B697E"/>
                </a:solidFill>
                <a:latin typeface="Noto Sans CJK SC"/>
              </a:rPr>
              <a:t>对齐深度 + 前景聚类</a:t>
            </a:r>
            <a:br/>
            <a:r>
              <a:rPr sz="880" b="0">
                <a:solidFill>
                  <a:srgbClr val="5B697E"/>
                </a:solidFill>
                <a:latin typeface="Noto Sans CJK SC"/>
              </a:rPr>
              <a:t>反投影为三维坐标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276088"/>
            <a:ext cx="251460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79" y="5276088"/>
            <a:ext cx="64008" cy="859536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538581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ID 稳定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5669279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B697E"/>
                </a:solidFill>
                <a:latin typeface="Noto Sans CJK SC"/>
              </a:rPr>
              <a:t>BoT-SORT + 目标记忆</a:t>
            </a:r>
            <a:br/>
            <a:r>
              <a:rPr sz="880" b="0">
                <a:solidFill>
                  <a:srgbClr val="5B697E"/>
                </a:solidFill>
                <a:latin typeface="Noto Sans CJK SC"/>
              </a:rPr>
              <a:t>遮挡后重捕获与重绑定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276088"/>
            <a:ext cx="251460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5276088"/>
            <a:ext cx="64008" cy="859536"/>
          </a:xfrm>
          <a:prstGeom prst="rect">
            <a:avLst/>
          </a:prstGeom>
          <a:solidFill>
            <a:srgbClr val="F2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538581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短时记忆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669279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B697E"/>
                </a:solidFill>
                <a:latin typeface="Noto Sans CJK SC"/>
              </a:rPr>
              <a:t>普通 4 s / 选中 15 s</a:t>
            </a:r>
            <a:br/>
            <a:r>
              <a:rPr sz="880" b="0">
                <a:solidFill>
                  <a:srgbClr val="5B697E"/>
                </a:solidFill>
                <a:latin typeface="Noto Sans CJK SC"/>
              </a:rPr>
              <a:t>EMA 平滑与 TTL 清理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5276088"/>
            <a:ext cx="251460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19" y="5276088"/>
            <a:ext cx="64008" cy="859536"/>
          </a:xfrm>
          <a:prstGeom prst="rect">
            <a:avLst/>
          </a:prstGeom>
          <a:solidFill>
            <a:srgbClr val="80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5385816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2A3E"/>
                </a:solidFill>
                <a:latin typeface="Noto Sans CJK SC"/>
              </a:rPr>
              <a:t>语义选择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5669279"/>
            <a:ext cx="21396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B697E"/>
                </a:solidFill>
                <a:latin typeface="Noto Sans CJK SC"/>
              </a:rPr>
              <a:t>类别、ID、左右与远近</a:t>
            </a:r>
            <a:br/>
            <a:r>
              <a:rPr sz="880" b="0">
                <a:solidFill>
                  <a:srgbClr val="5B697E"/>
                </a:solidFill>
                <a:latin typeface="Noto Sans CJK SC"/>
              </a:rPr>
              <a:t>语言只选目标，测量来自 D435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651052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97E"/>
                </a:solidFill>
                <a:latin typeface="Noto Sans CJK SC"/>
              </a:rPr>
              <a:t>球形六足机器人 · 个人阶段工作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97E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A6A6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310896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132B"/>
                </a:solidFill>
                <a:latin typeface="Noto Sans CJK SC"/>
              </a:rPr>
              <a:t>阶段成果与下一步路线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046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97E"/>
                </a:solidFill>
                <a:latin typeface="Noto Sans CJK SC"/>
              </a:rPr>
              <a:t>当前完成局部目标感知；下一阶段将视野扩展为环绕机器人的物体语义地图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52144"/>
            <a:ext cx="1100023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80744"/>
            <a:ext cx="5184648" cy="1316736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C7C8"/>
                </a:solidFill>
                <a:latin typeface="Noto Sans CJK SC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3434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机构方案 + RGB-D 感知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425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3CFE0"/>
                </a:solidFill>
                <a:latin typeface="Noto Sans CJK SC"/>
              </a:rPr>
              <a:t>输出目标 ID、类别、相机坐标、距离、方向和记忆状态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26080"/>
            <a:ext cx="518464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3182112"/>
            <a:ext cx="1024128" cy="329184"/>
          </a:xfrm>
          <a:prstGeom prst="roundRect">
            <a:avLst/>
          </a:prstGeom>
          <a:solidFill>
            <a:srgbClr val="FF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186684"/>
            <a:ext cx="102412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28438"/>
                </a:solidFill>
                <a:latin typeface="Noto Sans CJK SC"/>
              </a:rPr>
              <a:t>较近阶段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3127248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3E"/>
                </a:solidFill>
                <a:latin typeface="Noto Sans CJK SC"/>
              </a:rPr>
              <a:t>ROS 状态接口 + 机构3D打印与试装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3474720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97E"/>
                </a:solidFill>
                <a:latin typeface="Noto Sans CJK SC"/>
              </a:rPr>
              <a:t>完成设计—打印—装配—修改闭环，再进行实机联调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33672"/>
            <a:ext cx="5184648" cy="1764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46227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132B"/>
                </a:solidFill>
                <a:latin typeface="Noto Sans CJK SC"/>
              </a:rPr>
              <a:t>较远阶段算法链路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4919472"/>
            <a:ext cx="310896" cy="31089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910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85546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2A3E"/>
                </a:solidFill>
                <a:latin typeface="Noto Sans CJK SC"/>
              </a:rPr>
              <a:t>YOLO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129784"/>
            <a:ext cx="804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97E"/>
                </a:solidFill>
                <a:latin typeface="Noto Sans CJK SC"/>
              </a:rPr>
              <a:t>识别一圈物体</a:t>
            </a:r>
          </a:p>
        </p:txBody>
      </p:sp>
      <p:sp>
        <p:nvSpPr>
          <p:cNvPr id="21" name="Oval 20"/>
          <p:cNvSpPr/>
          <p:nvPr/>
        </p:nvSpPr>
        <p:spPr>
          <a:xfrm>
            <a:off x="2066544" y="4919472"/>
            <a:ext cx="310896" cy="310896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4910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5546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2A3E"/>
                </a:solidFill>
                <a:latin typeface="Noto Sans CJK SC"/>
              </a:rPr>
              <a:t>D435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29784"/>
            <a:ext cx="804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97E"/>
                </a:solidFill>
                <a:latin typeface="Noto Sans CJK SC"/>
              </a:rPr>
              <a:t>目标三维位置</a:t>
            </a:r>
          </a:p>
        </p:txBody>
      </p:sp>
      <p:sp>
        <p:nvSpPr>
          <p:cNvPr id="25" name="Oval 24"/>
          <p:cNvSpPr/>
          <p:nvPr/>
        </p:nvSpPr>
        <p:spPr>
          <a:xfrm>
            <a:off x="3282696" y="4919472"/>
            <a:ext cx="310896" cy="310896"/>
          </a:xfrm>
          <a:prstGeom prst="ellipse">
            <a:avLst/>
          </a:prstGeom>
          <a:solidFill>
            <a:srgbClr val="F2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4910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485546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2A3E"/>
                </a:solidFill>
                <a:latin typeface="Noto Sans CJK SC"/>
              </a:rPr>
              <a:t>视觉里程计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5129784"/>
            <a:ext cx="804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97E"/>
                </a:solidFill>
                <a:latin typeface="Noto Sans CJK SC"/>
              </a:rPr>
              <a:t>统一各帧坐标</a:t>
            </a:r>
          </a:p>
        </p:txBody>
      </p:sp>
      <p:sp>
        <p:nvSpPr>
          <p:cNvPr id="29" name="Oval 28"/>
          <p:cNvSpPr/>
          <p:nvPr/>
        </p:nvSpPr>
        <p:spPr>
          <a:xfrm>
            <a:off x="4498848" y="4919472"/>
            <a:ext cx="310896" cy="310896"/>
          </a:xfrm>
          <a:prstGeom prst="ellipse">
            <a:avLst/>
          </a:prstGeom>
          <a:solidFill>
            <a:srgbClr val="805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49103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485546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2A3E"/>
                </a:solidFill>
                <a:latin typeface="Noto Sans CJK SC"/>
              </a:rPr>
              <a:t>高度标定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1184" y="5129784"/>
            <a:ext cx="804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B697E"/>
                </a:solidFill>
                <a:latin typeface="Noto Sans CJK SC"/>
              </a:rPr>
              <a:t>附加离地高度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1380744"/>
            <a:ext cx="5559552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627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132B"/>
                </a:solidFill>
                <a:latin typeface="Noto Sans CJK SC"/>
              </a:rPr>
              <a:t>360° 二维物体语义地图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1600200"/>
            <a:ext cx="1115568" cy="329184"/>
          </a:xfrm>
          <a:prstGeom prst="roundRect">
            <a:avLst/>
          </a:prstGeom>
          <a:solidFill>
            <a:srgbClr val="E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1604772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A6A6"/>
                </a:solidFill>
                <a:latin typeface="Noto Sans CJK SC"/>
              </a:rPr>
              <a:t>旋转一周</a:t>
            </a:r>
          </a:p>
        </p:txBody>
      </p:sp>
      <p:sp>
        <p:nvSpPr>
          <p:cNvPr id="37" name="Oval 36"/>
          <p:cNvSpPr/>
          <p:nvPr/>
        </p:nvSpPr>
        <p:spPr>
          <a:xfrm>
            <a:off x="7178040" y="2185415"/>
            <a:ext cx="3273552" cy="3273552"/>
          </a:xfrm>
          <a:prstGeom prst="ellipse">
            <a:avLst/>
          </a:prstGeom>
          <a:noFill/>
          <a:ln w="1016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98664" y="2606039"/>
            <a:ext cx="2432304" cy="2432304"/>
          </a:xfrm>
          <a:prstGeom prst="ellipse">
            <a:avLst/>
          </a:prstGeom>
          <a:noFill/>
          <a:ln w="1016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28432" y="3035808"/>
            <a:ext cx="1572768" cy="1572768"/>
          </a:xfrm>
          <a:prstGeom prst="ellipse">
            <a:avLst/>
          </a:prstGeom>
          <a:noFill/>
          <a:ln w="1016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885432" y="3822191"/>
            <a:ext cx="3858768" cy="0"/>
          </a:xfrm>
          <a:prstGeom prst="line">
            <a:avLst/>
          </a:prstGeom>
          <a:ln w="8890">
            <a:solidFill>
              <a:srgbClr val="E5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14816" y="1993392"/>
            <a:ext cx="0" cy="3657600"/>
          </a:xfrm>
          <a:prstGeom prst="line">
            <a:avLst/>
          </a:prstGeom>
          <a:ln w="8890">
            <a:solidFill>
              <a:srgbClr val="E5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385048" y="3392424"/>
            <a:ext cx="859536" cy="859536"/>
          </a:xfrm>
          <a:prstGeom prst="ellipse">
            <a:avLst/>
          </a:prstGeom>
          <a:solidFill>
            <a:srgbClr val="0B132B"/>
          </a:solidFill>
          <a:ln w="25400">
            <a:solidFill>
              <a:srgbClr val="23C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5048" y="3493008"/>
            <a:ext cx="85953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Noto Sans CJK SC"/>
              </a:rPr>
              <a:t>ROBOT</a:t>
            </a:r>
            <a:br/>
            <a:r>
              <a:rPr sz="900" b="1">
                <a:solidFill>
                  <a:srgbClr val="FFFFFF"/>
                </a:solidFill>
                <a:latin typeface="Noto Sans CJK SC"/>
              </a:rPr>
              <a:t>(0, 0)</a:t>
            </a:r>
          </a:p>
        </p:txBody>
      </p:sp>
      <p:sp>
        <p:nvSpPr>
          <p:cNvPr id="44" name="Oval 43"/>
          <p:cNvSpPr/>
          <p:nvPr/>
        </p:nvSpPr>
        <p:spPr>
          <a:xfrm>
            <a:off x="7123176" y="2276856"/>
            <a:ext cx="237744" cy="237744"/>
          </a:xfrm>
          <a:prstGeom prst="ellipse">
            <a:avLst/>
          </a:prstGeom>
          <a:solidFill>
            <a:srgbClr val="F2843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96328" y="17556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8438"/>
                </a:solidFill>
                <a:latin typeface="Noto Sans CJK SC"/>
              </a:rPr>
              <a:t>chair  #12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8" y="198424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97E"/>
                </a:solidFill>
                <a:latin typeface="Noto Sans CJK SC"/>
              </a:rPr>
              <a:t>x=-1.8  y=+2.1</a:t>
            </a:r>
            <a:br/>
            <a:r>
              <a:rPr sz="750" b="0">
                <a:solidFill>
                  <a:srgbClr val="5B697E"/>
                </a:solidFill>
                <a:latin typeface="Noto Sans CJK SC"/>
              </a:rPr>
              <a:t>h=0.46 m</a:t>
            </a:r>
          </a:p>
        </p:txBody>
      </p:sp>
      <p:sp>
        <p:nvSpPr>
          <p:cNvPr id="47" name="Oval 46"/>
          <p:cNvSpPr/>
          <p:nvPr/>
        </p:nvSpPr>
        <p:spPr>
          <a:xfrm>
            <a:off x="9994392" y="2368296"/>
            <a:ext cx="237744" cy="237744"/>
          </a:xfrm>
          <a:prstGeom prst="ellipse">
            <a:avLst/>
          </a:prstGeom>
          <a:solidFill>
            <a:srgbClr val="00A6A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96144" y="1865376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0A6A6"/>
                </a:solidFill>
                <a:latin typeface="Noto Sans CJK SC"/>
              </a:rPr>
              <a:t>person  #8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96144" y="2093976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97E"/>
                </a:solidFill>
                <a:latin typeface="Noto Sans CJK SC"/>
              </a:rPr>
              <a:t>x=+1.6  y=+1.9</a:t>
            </a:r>
            <a:br/>
            <a:r>
              <a:rPr sz="750" b="0">
                <a:solidFill>
                  <a:srgbClr val="5B697E"/>
                </a:solidFill>
                <a:latin typeface="Noto Sans CJK SC"/>
              </a:rPr>
              <a:t>h=0.92 m</a:t>
            </a:r>
          </a:p>
        </p:txBody>
      </p:sp>
      <p:sp>
        <p:nvSpPr>
          <p:cNvPr id="50" name="Oval 49"/>
          <p:cNvSpPr/>
          <p:nvPr/>
        </p:nvSpPr>
        <p:spPr>
          <a:xfrm>
            <a:off x="10049255" y="4544568"/>
            <a:ext cx="237744" cy="237744"/>
          </a:xfrm>
          <a:prstGeom prst="ellipse">
            <a:avLst/>
          </a:prstGeom>
          <a:solidFill>
            <a:srgbClr val="3366C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51007" y="4645152"/>
            <a:ext cx="1261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3366CC"/>
                </a:solidFill>
                <a:latin typeface="Noto Sans CJK SC"/>
              </a:rPr>
              <a:t>bottle  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1007" y="4873752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97E"/>
                </a:solidFill>
                <a:latin typeface="Noto Sans CJK SC"/>
              </a:rPr>
              <a:t>x=+1.7  y=-1.4</a:t>
            </a:r>
            <a:br/>
            <a:r>
              <a:rPr sz="750" b="0">
                <a:solidFill>
                  <a:srgbClr val="5B697E"/>
                </a:solidFill>
                <a:latin typeface="Noto Sans CJK SC"/>
              </a:rPr>
              <a:t>h=0.68 m</a:t>
            </a:r>
          </a:p>
        </p:txBody>
      </p:sp>
      <p:sp>
        <p:nvSpPr>
          <p:cNvPr id="53" name="Oval 52"/>
          <p:cNvSpPr/>
          <p:nvPr/>
        </p:nvSpPr>
        <p:spPr>
          <a:xfrm>
            <a:off x="7306055" y="4800600"/>
            <a:ext cx="237744" cy="237744"/>
          </a:xfrm>
          <a:prstGeom prst="ellipse">
            <a:avLst/>
          </a:prstGeom>
          <a:solidFill>
            <a:srgbClr val="805CC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63055" y="4901184"/>
            <a:ext cx="12252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805CC2"/>
                </a:solidFill>
                <a:latin typeface="Noto Sans CJK SC"/>
              </a:rPr>
              <a:t>mouse  #1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3055" y="5129784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B697E"/>
                </a:solidFill>
                <a:latin typeface="Noto Sans CJK SC"/>
              </a:rPr>
              <a:t>x=-1.5  y=-1.7</a:t>
            </a:r>
            <a:br/>
            <a:r>
              <a:rPr sz="750" b="0">
                <a:solidFill>
                  <a:srgbClr val="5B697E"/>
                </a:solidFill>
                <a:latin typeface="Noto Sans CJK SC"/>
              </a:rPr>
              <a:t>h=0.04 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3952" y="5632704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1E2A3E"/>
                </a:solidFill>
                <a:latin typeface="Noto Sans CJK SC"/>
              </a:rPr>
              <a:t>地图节点 = 类别 + 稳定ID + (x, y) + 高度 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" y="651052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97E"/>
                </a:solidFill>
                <a:latin typeface="Noto Sans CJK SC"/>
              </a:rPr>
              <a:t>球形六足机器人 · 个人阶段工作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97E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球形六足机器人视觉感知与相机机构个人工作汇报</dc:title>
  <dc:subject>D435目标定位、四杆翻盖机构与二维物体语义地图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