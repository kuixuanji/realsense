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1" d="100"/>
          <a:sy n="91" d="100"/>
        </p:scale>
        <p:origin x="6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D54BF-9A2F-493B-8440-4E3C9EC4C3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12DD3-CFE9-4E49-9E10-B4632C505B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0D5545-95D4-489F-B8ED-7EAFA774B5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0D5545-95D4-489F-B8ED-7EAFA774B5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352562" y="6244170"/>
            <a:ext cx="5486876" cy="406590"/>
            <a:chOff x="3352562" y="6073254"/>
            <a:chExt cx="5486876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平行四边形 4"/>
          <p:cNvSpPr/>
          <p:nvPr userDrawn="1"/>
        </p:nvSpPr>
        <p:spPr>
          <a:xfrm>
            <a:off x="4144710" y="1537750"/>
            <a:ext cx="8047290" cy="3189811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3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86" y="2142500"/>
            <a:ext cx="8047290" cy="259093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5281297" y="2602227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  <a:endParaRPr lang="zh-CN" altLang="en-US" dirty="0"/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7341280" y="4870088"/>
            <a:ext cx="224470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6819584" y="3810704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119382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24558" y="4410381"/>
            <a:ext cx="3935296" cy="20929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 rotWithShape="1">
          <a:blip r:embed="rId6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304800" y="2455636"/>
            <a:ext cx="4122059" cy="1462680"/>
            <a:chOff x="304800" y="2709636"/>
            <a:chExt cx="4122059" cy="1462680"/>
          </a:xfrm>
        </p:grpSpPr>
        <p:grpSp>
          <p:nvGrpSpPr>
            <p:cNvPr id="5" name="组合 4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1" name="图片 10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3" cstate="print">
                  <a:alphaModFix amt="25000"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8" name="文本框 7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161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rPr>
                  <a:t>目  录</a:t>
                </a:r>
                <a:endPara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5772150" y="0"/>
            <a:ext cx="641985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 flipV="1">
            <a:off x="56726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034970" y="685800"/>
            <a:ext cx="4122060" cy="1462680"/>
            <a:chOff x="667655" y="1497651"/>
            <a:chExt cx="4122060" cy="1462680"/>
          </a:xfrm>
        </p:grpSpPr>
        <p:grpSp>
          <p:nvGrpSpPr>
            <p:cNvPr id="7" name="组合 6"/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pic>
            <p:nvPicPr>
              <p:cNvPr id="11" name="图片 10" descr="图片包含 建筑物&#10;&#10;自动生成的说明"/>
              <p:cNvPicPr>
                <a:picLocks noChangeAspect="1"/>
              </p:cNvPicPr>
              <p:nvPr/>
            </p:nvPicPr>
            <p:blipFill>
              <a:blip r:embed="rId3" cstate="print">
                <a:alphaModFix amt="25000"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8" name="文本框 7"/>
            <p:cNvSpPr txBox="1"/>
            <p:nvPr/>
          </p:nvSpPr>
          <p:spPr>
            <a:xfrm>
              <a:off x="667655" y="1755350"/>
              <a:ext cx="41220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目         录</a:t>
              </a:r>
              <a:endPara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047" y="797373"/>
            <a:ext cx="1590855" cy="1114981"/>
          </a:xfrm>
          <a:prstGeom prst="rect">
            <a:avLst/>
          </a:prstGeom>
        </p:spPr>
      </p:pic>
      <p:sp>
        <p:nvSpPr>
          <p:cNvPr id="13" name="图片占位符 12"/>
          <p:cNvSpPr>
            <a:spLocks noGrp="1"/>
          </p:cNvSpPr>
          <p:nvPr userDrawn="1">
            <p:ph type="pic" sz="quarter" idx="10"/>
          </p:nvPr>
        </p:nvSpPr>
        <p:spPr>
          <a:xfrm>
            <a:off x="-19050" y="3428999"/>
            <a:ext cx="12211050" cy="3428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 rot="16200000" flipV="1">
            <a:off x="6051001" y="-2738344"/>
            <a:ext cx="90000" cy="12198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3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 rot="10800000">
            <a:off x="5885901" y="-45000"/>
            <a:ext cx="90000" cy="694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5842000" cy="68770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6238874" y="3047028"/>
            <a:ext cx="5648325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38874" y="4054685"/>
            <a:ext cx="5648325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l="49487" r="1345"/>
          <a:stretch>
            <a:fillRect/>
          </a:stretch>
        </p:blipFill>
        <p:spPr>
          <a:xfrm>
            <a:off x="6238430" y="6041797"/>
            <a:ext cx="5920443" cy="41161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19566" y="6403747"/>
            <a:ext cx="12166903" cy="411617"/>
          </a:xfrm>
          <a:prstGeom prst="rect">
            <a:avLst/>
          </a:prstGeom>
        </p:spPr>
      </p:pic>
      <p:sp>
        <p:nvSpPr>
          <p:cNvPr id="19" name="平行四边形 18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/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950120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1016782" y="119857"/>
            <a:ext cx="885617" cy="444838"/>
            <a:chOff x="11016782" y="119857"/>
            <a:chExt cx="885617" cy="444838"/>
          </a:xfrm>
        </p:grpSpPr>
        <p:sp>
          <p:nvSpPr>
            <p:cNvPr id="11" name="平行四边形 10"/>
            <p:cNvSpPr/>
            <p:nvPr userDrawn="1"/>
          </p:nvSpPr>
          <p:spPr>
            <a:xfrm>
              <a:off x="11428834" y="119857"/>
              <a:ext cx="473565" cy="242093"/>
            </a:xfrm>
            <a:prstGeom prst="parallelogram">
              <a:avLst>
                <a:gd name="adj" fmla="val 4444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平行四边形 11"/>
            <p:cNvSpPr/>
            <p:nvPr userDrawn="1"/>
          </p:nvSpPr>
          <p:spPr>
            <a:xfrm>
              <a:off x="11016782" y="322602"/>
              <a:ext cx="473565" cy="242093"/>
            </a:xfrm>
            <a:prstGeom prst="parallelogram">
              <a:avLst>
                <a:gd name="adj" fmla="val 4444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814458" y="69892"/>
            <a:ext cx="1037230" cy="342900"/>
          </a:xfrm>
          <a:prstGeom prst="rect">
            <a:avLst/>
          </a:prstGeom>
        </p:spPr>
        <p:txBody>
          <a:bodyPr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(标题导航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1" name="平行四边形 10"/>
          <p:cNvSpPr/>
          <p:nvPr userDrawn="1"/>
        </p:nvSpPr>
        <p:spPr>
          <a:xfrm>
            <a:off x="99533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标题一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平行四边形 11"/>
          <p:cNvSpPr/>
          <p:nvPr userDrawn="1"/>
        </p:nvSpPr>
        <p:spPr>
          <a:xfrm>
            <a:off x="2831521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标题二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8161E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5" name="平行四边形 14"/>
          <p:cNvSpPr/>
          <p:nvPr userDrawn="1"/>
        </p:nvSpPr>
        <p:spPr>
          <a:xfrm>
            <a:off x="4645215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标题三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8161E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6" name="平行四边形 15"/>
          <p:cNvSpPr/>
          <p:nvPr userDrawn="1"/>
        </p:nvSpPr>
        <p:spPr>
          <a:xfrm>
            <a:off x="6481406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标题四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8161E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829510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C8161E">
                  <a:lumMod val="60000"/>
                  <a:lumOff val="4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图片 6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28" y="853340"/>
            <a:ext cx="1656344" cy="1656344"/>
          </a:xfrm>
          <a:prstGeom prst="rect">
            <a:avLst/>
          </a:prstGeom>
        </p:spPr>
      </p:pic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7322504" y="1488254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322504" y="4146847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033473" y="2496180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001" y="1860735"/>
            <a:ext cx="2858911" cy="2332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F288E0-7875-42C4-84C8-98DBBD3BF4D2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4.xml"/><Relationship Id="rId7" Type="http://schemas.openxmlformats.org/officeDocument/2006/relationships/image" Target="../media/image18.png"/><Relationship Id="rId6" Type="http://schemas.microsoft.com/office/2007/relationships/media" Target="../media/media1.mp4"/><Relationship Id="rId5" Type="http://schemas.openxmlformats.org/officeDocument/2006/relationships/video" Target="../media/media1.mp4"/><Relationship Id="rId4" Type="http://schemas.openxmlformats.org/officeDocument/2006/relationships/image" Target="../media/image17.png"/><Relationship Id="rId3" Type="http://schemas.openxmlformats.org/officeDocument/2006/relationships/hyperlink" Target="https://www.vogue.cs.titech.ac.jp/projects/ball-camera/ballcam?utm_source=chatgpt.com" TargetMode="Externa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9.jpe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219825"/>
            <a:ext cx="12192635" cy="638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0995" y="221298"/>
            <a:ext cx="458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六足球形机器人的视觉调研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177165"/>
            <a:ext cx="295910" cy="54864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3505" y="6405245"/>
            <a:ext cx="382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995" y="799488"/>
            <a:ext cx="4586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1.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纯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视觉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96" y="3646465"/>
            <a:ext cx="2758780" cy="275878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65538" y="1381582"/>
            <a:ext cx="3885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、舍弃球形态下的视觉能力，只要求六足形态下的视觉：与传统机器人无异</a:t>
            </a:r>
            <a:endParaRPr lang="en-US" altLang="zh-CN" dirty="0"/>
          </a:p>
          <a:p>
            <a:r>
              <a:rPr lang="zh-CN" altLang="en-US" dirty="0"/>
              <a:t>优点：简易，方案成熟</a:t>
            </a:r>
            <a:endParaRPr lang="en-US" altLang="zh-CN" dirty="0"/>
          </a:p>
          <a:p>
            <a:r>
              <a:rPr lang="zh-CN" altLang="en-US" dirty="0"/>
              <a:t>缺点：球形态的运动状态难以掌握</a:t>
            </a:r>
            <a:endParaRPr lang="zh-CN" alt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5720815" y="1381582"/>
            <a:ext cx="3885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、不舍弃球形态下的视觉能力</a:t>
            </a:r>
            <a:endParaRPr lang="en-US" altLang="zh-CN" dirty="0"/>
          </a:p>
          <a:p>
            <a:r>
              <a:rPr lang="zh-CN" altLang="en-US" dirty="0"/>
              <a:t>优点：简易，方案成熟</a:t>
            </a:r>
            <a:endParaRPr lang="en-US" altLang="zh-CN" dirty="0"/>
          </a:p>
          <a:p>
            <a:r>
              <a:rPr lang="zh-CN" altLang="en-US" dirty="0"/>
              <a:t>缺点：球形态的运动状态难以掌握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720815" y="2397245"/>
            <a:ext cx="60971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小池实验室</a:t>
            </a:r>
            <a:r>
              <a:rPr lang="en-US" altLang="zh-CN" dirty="0">
                <a:hlinkClick r:id="rId3"/>
              </a:rPr>
              <a:t>@</a:t>
            </a:r>
            <a:r>
              <a:rPr lang="zh-CN" altLang="en-US" dirty="0">
                <a:hlinkClick r:id="rId3"/>
              </a:rPr>
              <a:t>东京工业大学 </a:t>
            </a:r>
            <a:r>
              <a:rPr lang="en-US" altLang="zh-CN" dirty="0">
                <a:hlinkClick r:id="rId3"/>
              </a:rPr>
              <a:t>- </a:t>
            </a:r>
            <a:r>
              <a:rPr lang="en-GB" altLang="zh-CN" dirty="0" err="1">
                <a:hlinkClick r:id="rId3"/>
              </a:rPr>
              <a:t>BallCam</a:t>
            </a:r>
            <a:r>
              <a:rPr lang="zh-CN" altLang="en-GB" dirty="0">
                <a:hlinkClick r:id="rId3"/>
              </a:rPr>
              <a:t>！：</a:t>
            </a:r>
            <a:r>
              <a:rPr lang="zh-CN" altLang="en-US" dirty="0">
                <a:hlinkClick r:id="rId3"/>
              </a:rPr>
              <a:t>旋转摄像机的动态视图合成 </a:t>
            </a:r>
            <a:r>
              <a:rPr lang="en-US" altLang="zh-CN" dirty="0">
                <a:hlinkClick r:id="rId3"/>
              </a:rPr>
              <a:t>--- </a:t>
            </a:r>
            <a:r>
              <a:rPr lang="en-GB" altLang="zh-CN" dirty="0">
                <a:hlinkClick r:id="rId3"/>
              </a:rPr>
              <a:t>Koike Laboratory @ Tokyo Tech - </a:t>
            </a:r>
            <a:r>
              <a:rPr lang="en-GB" altLang="zh-CN" dirty="0" err="1">
                <a:hlinkClick r:id="rId3"/>
              </a:rPr>
              <a:t>BallCam</a:t>
            </a:r>
            <a:r>
              <a:rPr lang="en-GB" altLang="zh-CN" dirty="0">
                <a:hlinkClick r:id="rId3"/>
              </a:rPr>
              <a:t>! : Dynamic View Synthesis from Spinning Cameras</a:t>
            </a:r>
            <a:endParaRPr lang="zh-CN" altLang="en-US" dirty="0"/>
          </a:p>
        </p:txBody>
      </p:sp>
      <p:pic>
        <p:nvPicPr>
          <p:cNvPr id="1026" name="Picture 2" descr="「Insta360品牌」Insta360是哪个国家的品牌-什么档次，怎么样-排行榜123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206" y="3320575"/>
            <a:ext cx="3487168" cy="3487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箭头: 右 23"/>
          <p:cNvSpPr/>
          <p:nvPr/>
        </p:nvSpPr>
        <p:spPr>
          <a:xfrm>
            <a:off x="7663333" y="4710424"/>
            <a:ext cx="1005142" cy="5303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1197cea8c2ffc731b148ee1c770af7d3_raw">
            <a:hlinkClick r:id="" action="ppaction://media"/>
          </p:cNvPr>
          <p:cNvPicPr/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86410" y="3219450"/>
            <a:ext cx="8128000" cy="267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6219825"/>
            <a:ext cx="12192635" cy="638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0995" y="221298"/>
            <a:ext cx="458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六足球形机器人的视觉调研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177165"/>
            <a:ext cx="295910" cy="54864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3505" y="6405245"/>
            <a:ext cx="382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995" y="778548"/>
            <a:ext cx="4586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2.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雷达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57" y="2229976"/>
            <a:ext cx="5226863" cy="263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877289" y="2279843"/>
            <a:ext cx="478140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采用三轴稳定结构，在滚动时始终保持雷达相对于地面静止或只做简单位移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球壳采用透波率高、吸收率低、反射率低的透波材料精心制作，检测周围地形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3F0709"/>
      </a:dk2>
      <a:lt2>
        <a:srgbClr val="FEF3F4"/>
      </a:lt2>
      <a:accent1>
        <a:srgbClr val="C8161E"/>
      </a:accent1>
      <a:accent2>
        <a:srgbClr val="1F4D7E"/>
      </a:accent2>
      <a:accent3>
        <a:srgbClr val="C8161E"/>
      </a:accent3>
      <a:accent4>
        <a:srgbClr val="1F4D7E"/>
      </a:accent4>
      <a:accent5>
        <a:srgbClr val="C8161E"/>
      </a:accent5>
      <a:accent6>
        <a:srgbClr val="1F4D7E"/>
      </a:accent6>
      <a:hlink>
        <a:srgbClr val="0026E5"/>
      </a:hlink>
      <a:folHlink>
        <a:srgbClr val="7E1FAD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</Words>
  <Application>WPS 演示</Application>
  <PresentationFormat>宽屏</PresentationFormat>
  <Paragraphs>26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等线</vt:lpstr>
      <vt:lpstr>楷体</vt:lpstr>
      <vt:lpstr>Arial Unicode MS</vt:lpstr>
      <vt:lpstr>2_Office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顾璇 张</dc:creator>
  <cp:lastModifiedBy>张顾璇</cp:lastModifiedBy>
  <cp:revision>2</cp:revision>
  <dcterms:created xsi:type="dcterms:W3CDTF">2025-10-20T08:19:00Z</dcterms:created>
  <dcterms:modified xsi:type="dcterms:W3CDTF">2025-10-20T12:47:47Z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F852B3655571477DAB50FF2526672482_12</vt:lpwstr>
  </property>
  <property fmtid="{D5CDD505-2E9C-101B-9397-08002B2CF9AE}" pid="3" name="KSOProductBuildVer">
    <vt:lpwstr>2052-12.1.0.21541</vt:lpwstr>
  </property>
</Properties>
</file>